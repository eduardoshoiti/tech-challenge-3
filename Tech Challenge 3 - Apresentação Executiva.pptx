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lus Jakarta Sans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regular.fntdata"/><Relationship Id="rId14" Type="http://schemas.openxmlformats.org/officeDocument/2006/relationships/slide" Target="slides/slide9.xml"/><Relationship Id="rId17" Type="http://schemas.openxmlformats.org/officeDocument/2006/relationships/font" Target="fonts/PlusJakartaSans-italic.fntdata"/><Relationship Id="rId16" Type="http://schemas.openxmlformats.org/officeDocument/2006/relationships/font" Target="fonts/PlusJakarta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PlusJakarta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10" Type="http://schemas.openxmlformats.org/officeDocument/2006/relationships/image" Target="../media/image27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32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817715"/>
            <a:ext cx="6096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0218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" y="209743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611784"/>
            <a:ext cx="8601075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Preditivo de Alfabetização Infantil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941415"/>
            <a:ext cx="73344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Antecipação de indicadores do INEP para intervenção pedagógica preventiva nas redes de ensino.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04900" y="2111722"/>
            <a:ext cx="2726531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APRESENTAÇÃO EXECUTIVA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09600" y="2820441"/>
            <a:ext cx="5295900" cy="965745"/>
          </a:xfrm>
          <a:prstGeom prst="roundRect">
            <a:avLst>
              <a:gd fmla="val 789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09600" y="3976687"/>
            <a:ext cx="5295900" cy="965745"/>
          </a:xfrm>
          <a:prstGeom prst="roundRect">
            <a:avLst>
              <a:gd fmla="val 7890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09600" y="2820441"/>
            <a:ext cx="38100" cy="96574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3976687"/>
            <a:ext cx="38100" cy="96574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2166937"/>
            <a:ext cx="52959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6937"/>
            <a:ext cx="52959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3063329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42195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09600" y="533400"/>
            <a:ext cx="81319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GARGALO OPERACIONAL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752475"/>
            <a:ext cx="85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Desafio da Alfabetização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Infantil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3344316"/>
            <a:ext cx="6000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Resultados do INEP chegam com meses de atraso.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6300" y="4500562"/>
            <a:ext cx="6000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Previsão antecipada para reforço escolar em tempo real.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81100" y="3049041"/>
            <a:ext cx="331291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Diagnóstico Tradicional Tardio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81100" y="4205287"/>
            <a:ext cx="31628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Ação Pedagógica Preventiva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609600" y="2814637"/>
            <a:ext cx="2600325" cy="2133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3400425" y="2814637"/>
            <a:ext cx="2600325" cy="2133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191250" y="2814637"/>
            <a:ext cx="2600325" cy="2133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982075" y="2814637"/>
            <a:ext cx="2600325" cy="213360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90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8550" y="3090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090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0200" y="30908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" y="321468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62375" y="3214687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321468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58312" y="3214687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INSUMOS ESTRATÉGICOS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Bases de Dados Utilizadas na Modelagem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7725" y="3738562"/>
            <a:ext cx="2330291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Indicadores Educacionais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7725" y="4271962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Desempenho escolar histórico e infraestrutura da rede.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638550" y="37385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PIB Municipal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638550" y="405288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Capacidade socioeconômica e orçamentária do município.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429375" y="37385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Perfil Populacional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429375" y="4052887"/>
            <a:ext cx="2219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Demografia local e porte da comunidade escolar.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220200" y="3738562"/>
            <a:ext cx="27878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Gestor de Educação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220200" y="4052887"/>
            <a:ext cx="2219325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Perfil de liderança e continuidade das políticas públicas.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609600" y="2996654"/>
            <a:ext cx="2436018" cy="1807666"/>
          </a:xfrm>
          <a:prstGeom prst="roundRect">
            <a:avLst>
              <a:gd fmla="val 63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455193" y="3089969"/>
            <a:ext cx="2436018" cy="1621035"/>
          </a:xfrm>
          <a:prstGeom prst="roundRect">
            <a:avLst>
              <a:gd fmla="val 705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300787" y="2996654"/>
            <a:ext cx="2436018" cy="1807666"/>
          </a:xfrm>
          <a:prstGeom prst="roundRect">
            <a:avLst>
              <a:gd fmla="val 63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9146381" y="3089969"/>
            <a:ext cx="2436018" cy="1621035"/>
          </a:xfrm>
          <a:prstGeom prst="roundRect">
            <a:avLst>
              <a:gd fmla="val 705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09625" y="3234779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655218" y="3328094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500812" y="3234779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9346406" y="3328094"/>
            <a:ext cx="342900" cy="342900"/>
          </a:xfrm>
          <a:prstGeom prst="roundRect">
            <a:avLst>
              <a:gd fmla="val 22222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018" y="3814762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3612" y="3814762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89206" y="3814762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4143" y="3310979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0687" y="3404294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65331" y="3310979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91875" y="3404294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PIPELINE DA SOLUÇÃO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Arquitetura do Modelo Preditivo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09625" y="3730079"/>
            <a:ext cx="26722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Ingestão de Dados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9625" y="4006304"/>
            <a:ext cx="213121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Integração das bases públicas do INEP, IBGE e dados municipais.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3655218" y="3823394"/>
            <a:ext cx="26722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Tratamento &amp; Engenharia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3655218" y="4099619"/>
            <a:ext cx="2131218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Limpeza, imputação e criação de variáveis socioeconômicas.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500812" y="3730079"/>
            <a:ext cx="26722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Algoritmo Preditivo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00812" y="4006304"/>
            <a:ext cx="2131218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Modelagem por Random Forest com otimização do ponto de corte.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9346406" y="3823394"/>
            <a:ext cx="267220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Ação Pedagógica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346406" y="4099619"/>
            <a:ext cx="2131218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Direcionamento preventivo de recursos e reforço escolar.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66750" y="3234779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3512343" y="3328094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357937" y="3234779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203531" y="3328094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609600" y="4544466"/>
            <a:ext cx="4889450" cy="864691"/>
          </a:xfrm>
          <a:prstGeom prst="roundRect">
            <a:avLst>
              <a:gd fmla="val 88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09600" y="2277516"/>
            <a:ext cx="2368450" cy="981075"/>
          </a:xfrm>
          <a:prstGeom prst="roundRect">
            <a:avLst>
              <a:gd fmla="val 116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130450" y="2277516"/>
            <a:ext cx="2368599" cy="981075"/>
          </a:xfrm>
          <a:prstGeom prst="roundRect">
            <a:avLst>
              <a:gd fmla="val 116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09600" y="3410991"/>
            <a:ext cx="2368450" cy="981075"/>
          </a:xfrm>
          <a:prstGeom prst="roundRect">
            <a:avLst>
              <a:gd fmla="val 116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130450" y="3410991"/>
            <a:ext cx="2368599" cy="981075"/>
          </a:xfrm>
          <a:prstGeom prst="roundRect">
            <a:avLst>
              <a:gd fmla="val 116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62075"/>
            <a:ext cx="10972800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VALIDAÇÃO ESTATÍSTICA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Desempenho e Inteligência Preditiva (Random Forest)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00100" y="4696866"/>
            <a:ext cx="460370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Ganho Discriminativo: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curva ROC demonstra a capacidade contínua do modelo em superar a escolha aleatória (AUC 0.62 vs 0.50), otimizando a sensibilidade para ações preventivas.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515949" y="2477541"/>
            <a:ext cx="2555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0.62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15949" y="2915691"/>
            <a:ext cx="2555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ROC AUC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3036782" y="2477541"/>
            <a:ext cx="25559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0.165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036782" y="2915691"/>
            <a:ext cx="25559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ESTATÍSTICA KS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15949" y="3611016"/>
            <a:ext cx="2555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53.6%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15949" y="4049166"/>
            <a:ext cx="2555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RECALL / SENSIBILIDADE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3036782" y="3611016"/>
            <a:ext cx="255593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60.8%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036782" y="4049166"/>
            <a:ext cx="25559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PRECISÃO (CUTOFF 0.494)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609600" y="2121396"/>
            <a:ext cx="4512766" cy="1049535"/>
          </a:xfrm>
          <a:prstGeom prst="roundRect">
            <a:avLst>
              <a:gd fmla="val 108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609600" y="3323332"/>
            <a:ext cx="4512766" cy="1049535"/>
          </a:xfrm>
          <a:prstGeom prst="roundRect">
            <a:avLst>
              <a:gd fmla="val 108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09600" y="4525267"/>
            <a:ext cx="4512766" cy="1040010"/>
          </a:xfrm>
          <a:prstGeom prst="roundRect">
            <a:avLst>
              <a:gd fmla="val 109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62075"/>
            <a:ext cx="10972800" cy="496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340471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54240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74434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EXPLICABILIDADE &amp; IMPORTÂNCIA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Fatores Determinantes do Modelo (Permutação)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09625" y="2588121"/>
            <a:ext cx="4207966" cy="382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As variáveis sigla_uf e regiao causam a maior queda no ROC AUC quando permutadas.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09625" y="3790057"/>
            <a:ext cx="4207966" cy="382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 porte populacional (populacao) e o pib municipal atuam como fortes moduladores da eficácia.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09625" y="4991992"/>
            <a:ext cx="4207966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dependência administrativa da escola e a formação dos gestores ajustam a calibração final das previsões.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14425" y="2321421"/>
            <a:ext cx="2712839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Fator Territorial Dominante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1143000" y="3523357"/>
            <a:ext cx="377547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Demográfico &amp; Econômico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1143000" y="4725292"/>
            <a:ext cx="265033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Infraestrutura &amp; Liderança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609600" y="2990850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343400" y="2990850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8077200" y="2990850"/>
            <a:ext cx="3505200" cy="1781175"/>
          </a:xfrm>
          <a:prstGeom prst="roundRect">
            <a:avLst>
              <a:gd fmla="val 64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67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3267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3267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075" y="337185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4875" y="337185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337185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GERAÇÃO DE VALOR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09600" y="752475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Valoração Prática para a Gestão Pública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885825" y="38004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Priorização Territorial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885825" y="4095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Mapeamento de regiões e escolas vulneráveis por contexto socioeconômico.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4619625" y="38004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Alocação Eficiente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4619625" y="4095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Direcionamento estratégico de recursos pedagógicos preventivos.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353425" y="3800475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Transparência Analítica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8353425" y="40957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Apoio à decisão pública com fundamentação explicável (SHAP).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/>
          <p:nvPr/>
        </p:nvSpPr>
        <p:spPr>
          <a:xfrm>
            <a:off x="4552950" y="4403377"/>
            <a:ext cx="3086100" cy="514350"/>
          </a:xfrm>
          <a:prstGeom prst="roundRect">
            <a:avLst>
              <a:gd fmla="val 50000" name="adj"/>
            </a:avLst>
          </a:prstGeom>
          <a:solidFill>
            <a:srgbClr val="0C2D49"/>
          </a:solidFill>
          <a:ln cap="flat" cmpd="sng" w="9525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5464968" y="1940272"/>
            <a:ext cx="1262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CONCLUSÃO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1095375" y="2254597"/>
            <a:ext cx="10001250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Transformando Dados em Garantia de Aprendizado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047875" y="3450877"/>
            <a:ext cx="8096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Alfabetização na idade certa com inteligência de dados e baixo custo computacional.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4471987" y="4555777"/>
            <a:ext cx="32480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Perguntas &amp; Discussão Executiva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666875" y="1042987"/>
            <a:ext cx="5381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https://brokenchalk.org/wp-content/uploads/2023/08/Brazil_Manaos.jpg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1666875" y="1243012"/>
            <a:ext cx="2226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brokenchalk.org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